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096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FFAB4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868680" cy="86868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5" name="Image 0" descr="icon_langu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21432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57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LANGUES &amp; INCLUSION NUMÉRIQUE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Traducteur Fon–Français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Faibles Ressources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Traduction neuronale (NMT) bidirectionnelle exploitant un corpus limité de ~54 000 paires — LoRA, augmentation de données et gestion fine des diacritiques.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Cahier des charges — Version 1.0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6172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github.com/labindji</a:t>
            </a:r>
            <a:pPr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huggingface.co/spaces/labindji/Projet_TTA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CADRAGE DU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objectifs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2E2E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locuteurs du Fon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(Bénin, Togo, Nigeria)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2E2E2E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874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54K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2628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paires de phrases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disponibles (corpus FFR)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2E2E2E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874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7532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 de traduction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 ⇄ Français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00968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5196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Fon est une langue à faibles ressources en TAL : peu de corpus, de modèles et d'outils. Le projet développe un système de traduction automatique neuronale Fon ↔ Français, performant malgré un corpus restreint, avec une démo interactive.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51215" y="6355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Détails à la page suivante 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DÉTAILS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Contexte, objectifs &amp; public cible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5" name="Image 0" descr="icon_langu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8233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3611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 (Fongbé) : +2M locuteurs (Bénin, Togo, Nigeria)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Langue à faibles ressources en TAL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 de corpus numériques, de modèles et d'outils linguistiques existants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691640"/>
            <a:ext cx="548640" cy="5486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9" name="Image 1" descr="icon_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074" y="182331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16916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principaux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343400" y="2423160"/>
            <a:ext cx="3611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traduction Fon → Français et Français → Fon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Performances compétitives malgré peu de données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 gestion des diacritiques (essentiels en Fon)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interactive (API ou interface web)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38160" y="1691640"/>
            <a:ext cx="548640" cy="5486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13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834" y="182331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23960" y="16916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cible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38160" y="2423160"/>
            <a:ext cx="3611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Chercheurs en TAL, linguistes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Développeurs d'applications d'inclusion numérique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Locuteurs du Fon, apprenants, traducteurs professionnels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FFR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371600" cy="1371600"/>
          </a:xfrm>
          <a:prstGeom prst="ellipse">
            <a:avLst/>
          </a:prstGeom>
          <a:solidFill>
            <a:srgbClr val="FFAB40"/>
          </a:solidFill>
          <a:ln/>
        </p:spPr>
      </p:sp>
      <p:pic>
        <p:nvPicPr>
          <p:cNvPr id="5" name="Image 0" descr="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4942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19659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FFR — Fon-French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286000" y="2880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Dépôt public vérifié — github.com/bonaventuredossou/ffr-v1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06640" y="187452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2E2E2E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1965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53 975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635240" y="2606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paires Fon–Français (mots et phrases)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3566160" cy="685800"/>
          </a:xfrm>
          <a:prstGeom prst="roundRect">
            <a:avLst>
              <a:gd name="adj" fmla="val 49333"/>
            </a:avLst>
          </a:prstGeom>
          <a:solidFill>
            <a:srgbClr val="009688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Paires alignées Fon ↔ FR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3400" y="3749040"/>
            <a:ext cx="3566160" cy="685800"/>
          </a:xfrm>
          <a:prstGeom prst="roundRect">
            <a:avLst>
              <a:gd name="adj" fmla="val 49333"/>
            </a:avLst>
          </a:prstGeom>
          <a:solidFill>
            <a:srgbClr val="009688"/>
          </a:solidFill>
          <a:ln/>
        </p:spPr>
      </p:sp>
      <p:sp>
        <p:nvSpPr>
          <p:cNvPr id="14" name="Text 11"/>
          <p:cNvSpPr/>
          <p:nvPr/>
        </p:nvSpPr>
        <p:spPr>
          <a:xfrm>
            <a:off x="434340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.txt / .tsv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38160" y="3749040"/>
            <a:ext cx="3566160" cy="685800"/>
          </a:xfrm>
          <a:prstGeom prst="roundRect">
            <a:avLst>
              <a:gd name="adj" fmla="val 49333"/>
            </a:avLst>
          </a:prstGeom>
          <a:solidFill>
            <a:srgbClr val="009688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à confirmer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48463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corpus complet servira à l'entraînement, la validation et le test du modèle, après un prétraitement adapté aux spécificités toniques et diacritiques du Fon.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51215" y="6355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Détails à la page suivante 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DÉTAILS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&amp; prétraitement des données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&amp; structure attendue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: github.com/bonaventuredossou/ffr-v1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Taille : 53 975 paires (phrases et mots)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: paires alignées Fon ↔ Français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.txt ou .tsv : colonnes id, fon_text, french_text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Sous-ensembles train / dev / test potentiellement déjà séparés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0" cy="4480560"/>
          </a:xfrm>
          <a:prstGeom prst="line">
            <a:avLst/>
          </a:prstGeom>
          <a:noFill/>
          <a:ln w="1905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Prétraitement nécessaire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21031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: suppression des caractères parasites, normalisation des espaces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Tokenisation spécifique au Fon (tons et diacritiques)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des phrases longues si nécessaire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434340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45262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Licence probablement open-source, mais à confirmer avant toute réutilisation ou publication du dataset dérivé.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APPROCHE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modèle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2E2E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6" name="Image 0" descr="icon_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2439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base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46888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mT5-small / mT5-base ou NLLB-200 (Meta)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2E2E2E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057400"/>
            <a:ext cx="777240" cy="7772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11" name="Image 1" descr="icon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2439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11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46888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— fine-tuning léger, sans réentraîner tout le modèle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2E2E2E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06240"/>
            <a:ext cx="777240" cy="7772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16" name="Image 2" descr="icon_langu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43927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160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461772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 multilingue ou tokenizer entraîné sur le corpus Fon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2E2E2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206240"/>
            <a:ext cx="777240" cy="7772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21" name="Image 3" descr="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439277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160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Robustesse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461772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de données, cross-entropy + label smoothing, régularisation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351215" y="6355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Détails à la page suivante →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DÉTAILS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d'entraînement &amp; infrastructure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d'entraînement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5760" cy="36576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1214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Prétraitement : tokenisation, normalisation des diacritiques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365760" cy="36576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15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68833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: génération de paires synthétiques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25526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avec LoRA sur mT5 / NLLB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365760" cy="36576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9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82219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sur dev / test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16552"/>
            <a:ext cx="365760" cy="36576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389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des hyperparamètres (learning rate, batch size…)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1737360"/>
            <a:ext cx="0" cy="4480560"/>
          </a:xfrm>
          <a:prstGeom prst="line">
            <a:avLst/>
          </a:prstGeom>
          <a:noFill/>
          <a:ln w="19050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691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210312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: PyTorch + Hugging Face Transformers + PEFT (LoRA)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: Google Colab Pro / GPU local (NVIDIA) / TPU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: Git LFS ou Google Drive pour les modèles entraînés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78040" y="4160520"/>
            <a:ext cx="4480560" cy="2011680"/>
          </a:xfrm>
          <a:prstGeom prst="roundRect">
            <a:avLst>
              <a:gd name="adj" fmla="val 4545"/>
            </a:avLst>
          </a:prstGeom>
          <a:solidFill>
            <a:srgbClr val="009688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4315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 de perte &amp; régularisation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06640" y="470916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 avec label smoothing, dropout, weight decay et early stopping pour éviter le sur-ajustement sur un corpus limité.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ÉVALUATION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d'évaluation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00968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≥15 / ≥12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Fon→FR / FR→Fon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AB40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≥0.45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30175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chrF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(similarité par caractères)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00968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≥85%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30175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diacritiques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AB40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≥3/5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89720" y="30175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humaine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fluidité / adéquation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minimaux fixés pour valider la qualité du système avant déploiement.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51215" y="6355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Détails à la page suivante 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DÉTAILS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Protocole d'évaluation humaine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05840" cy="10058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5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20702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8745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phrases traduites tirées aléatoirement, évaluées par 3 évaluateurs bilingues Fon–Français.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d'évaluation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2E2E2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Exactitude de la traduction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2E2E2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114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Fluidité de la phrase produite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2E2E2E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709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Préservation du sens original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0" y="3063240"/>
            <a:ext cx="0" cy="2743200"/>
          </a:xfrm>
          <a:prstGeom prst="line">
            <a:avLst/>
          </a:prstGeom>
          <a:noFill/>
          <a:ln w="19050">
            <a:solidFill>
              <a:srgbClr val="2E2E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3063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minimaux (rappel)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520440"/>
          <a:ext cx="4846320" cy="2286000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Objectif minimal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BLEU (Fon→FR)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BLEU (FR→Fon)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0,45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Précision diacritiques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Évaluation humaine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RÉSULTATS ATTENDUS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2E2E2E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148840"/>
            <a:ext cx="777240" cy="7772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6" name="Image 0" descr="icon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578" y="23353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source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Dépôt GitHub complet et documenté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2E2E2E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2148840"/>
            <a:ext cx="777240" cy="7772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11" name="Image 1" descr="icon_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218" y="23353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entraînés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0440" y="36118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 Fon→FR et FR→Fon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2E2E2E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0" y="2148840"/>
            <a:ext cx="777240" cy="7772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16" name="Image 2" descr="icon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858" y="23353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55080" y="36118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web ou API REST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82880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2E2E2E"/>
          </a:solidFill>
          <a:ln/>
        </p:spPr>
      </p:sp>
      <p:sp>
        <p:nvSpPr>
          <p:cNvPr id="20" name="Shape 15"/>
          <p:cNvSpPr/>
          <p:nvPr/>
        </p:nvSpPr>
        <p:spPr>
          <a:xfrm>
            <a:off x="9966960" y="2148840"/>
            <a:ext cx="777240" cy="77724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21" name="Image 3" descr="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498" y="233537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89720" y="36118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Mémoire d'approche et de résultats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351215" y="6355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Détails à la page suivante →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DÉTAILS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des livrables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source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3611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de prétraitement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 d'entraînement (Colab-friendly)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d'inférence (API)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détaillé FR / EN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43400" y="17373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&amp; démo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43400" y="2194560"/>
            <a:ext cx="3611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 checkpoints (Fon→FR, FR→Fon)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Hugging Face .bin / .safetensors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Gradio/Streamlit sur HF Spaces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API REST (FastAPI) avec exemple d'appel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0" y="17373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/ mémoire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38160" y="2194560"/>
            <a:ext cx="3611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de l'approche et des expériences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et limites du système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erreurs (exemples d'échec)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FEUILLE DE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Planification en 7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381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862072"/>
            <a:ext cx="402336" cy="402336"/>
          </a:xfrm>
          <a:prstGeom prst="ellipse">
            <a:avLst/>
          </a:prstGeom>
          <a:solidFill>
            <a:srgbClr val="0096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Cadrage &amp;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79192" y="2862072"/>
            <a:ext cx="402336" cy="402336"/>
          </a:xfrm>
          <a:prstGeom prst="ellipse">
            <a:avLst/>
          </a:prstGeom>
          <a:solidFill>
            <a:srgbClr val="0096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3429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Prétraitement &amp;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2862072"/>
            <a:ext cx="402336" cy="402336"/>
          </a:xfrm>
          <a:prstGeom prst="ellipse">
            <a:avLst/>
          </a:prstGeom>
          <a:solidFill>
            <a:srgbClr val="0096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3429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79592" y="2862072"/>
            <a:ext cx="402336" cy="402336"/>
          </a:xfrm>
          <a:prstGeom prst="ellipse">
            <a:avLst/>
          </a:prstGeom>
          <a:solidFill>
            <a:srgbClr val="0096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959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3429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79792" y="2862072"/>
            <a:ext cx="402336" cy="402336"/>
          </a:xfrm>
          <a:prstGeom prst="ellipse">
            <a:avLst/>
          </a:prstGeom>
          <a:solidFill>
            <a:srgbClr val="0096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3429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données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79992" y="2862072"/>
            <a:ext cx="402336" cy="402336"/>
          </a:xfrm>
          <a:prstGeom prst="ellipse">
            <a:avLst/>
          </a:prstGeom>
          <a:solidFill>
            <a:srgbClr val="0096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999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49640" y="3429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&amp;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680192" y="2862072"/>
            <a:ext cx="402336" cy="402336"/>
          </a:xfrm>
          <a:prstGeom prst="ellipse">
            <a:avLst/>
          </a:prstGeom>
          <a:solidFill>
            <a:srgbClr val="0096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8019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49840" y="3429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&amp;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itérative : chaque phase s'appuie sur les livrables de la précédente, de l'exploration du corpus jusqu'au déploiement de la démo.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51215" y="6355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Détails à la page suivante 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DÉTAILS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des 7 phases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640080"/>
                <a:gridCol w="3108960"/>
                <a:gridCol w="7315200"/>
              </a:tblGrid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Tâches principales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Cadrage &amp; exploration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Prise en main du dataset, analyse des spécificités, installation de l'environnement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Prétraitement &amp; tokenisation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Nettoyage, tokenisation Fon, split train/dev/test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Entraînement d'un petit modèle (Transformer from scratch) pour référence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Fine-tuning avec LoRA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Adaptation de mT5/NLLB avec LoRA, expérimentation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Augmentation de données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Génération de données synthétiques, ré-entraînement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Évaluation &amp; optimisation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 des métriques, ajustements, évaluation humaine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Déploiement &amp; documentation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 web, dépôt GitHub, rapport final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FFAB4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 un accès numérique équitable pour les locuteurs du Fon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6" name="Image 0" descr="icon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354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Dépôt du projet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91640" y="349300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github.com/labindji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10" name="Image 1" descr="icon_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43141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Hugging Face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691640" y="44531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huggingface.co/spaces/labindji/Projet_TTA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14" name="Image 2" descr="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527425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691640" y="54132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github.com/bonaventuredossou/ffr-v1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2026-07-16T23:57:50Z</dcterms:created>
  <dcterms:modified xsi:type="dcterms:W3CDTF">2026-07-16T23:57:50Z</dcterms:modified>
</cp:coreProperties>
</file>